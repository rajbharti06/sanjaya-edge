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4688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67712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0016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91556" y="777239"/>
            <a:ext cx="1005840" cy="1005840"/>
          </a:xfrm>
          <a:prstGeom prst="ellipse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47004" y="932688"/>
            <a:ext cx="694944" cy="694944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3308" y="1078992"/>
            <a:ext cx="402336" cy="40233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21324" y="1207007"/>
            <a:ext cx="146304" cy="146304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454396" y="1280160"/>
            <a:ext cx="384048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50508" y="1280160"/>
            <a:ext cx="384048" cy="0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4476" y="640080"/>
            <a:ext cx="0" cy="384047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4476" y="1536192"/>
            <a:ext cx="0" cy="384047"/>
          </a:xfrm>
          <a:prstGeom prst="line">
            <a:avLst/>
          </a:prstGeom>
          <a:ln w="190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SANJAYA 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324612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3C5FD"/>
                </a:solidFill>
                <a:latin typeface="Calibri"/>
              </a:rPr>
              <a:t>AI Road Safety Co-Pilot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730752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A3C4"/>
                </a:solidFill>
                <a:latin typeface="Calibri"/>
              </a:rPr>
              <a:t>Real-Time Violation Detection  |  Legal Explainability  |  Citizen-Facing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4892040"/>
            <a:ext cx="1645920" cy="274320"/>
          </a:xfrm>
          <a:prstGeom prst="rect">
            <a:avLst/>
          </a:prstGeom>
          <a:solidFill>
            <a:srgbClr val="0E16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91032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3C5FD"/>
                </a:solidFill>
                <a:latin typeface="Calibri"/>
              </a:rPr>
              <a:t>YOLOv8n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4892040"/>
            <a:ext cx="1645920" cy="274320"/>
          </a:xfrm>
          <a:prstGeom prst="rect">
            <a:avLst/>
          </a:prstGeom>
          <a:solidFill>
            <a:srgbClr val="0E162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91032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6EFAC"/>
                </a:solidFill>
                <a:latin typeface="Calibri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892040"/>
            <a:ext cx="1645920" cy="274320"/>
          </a:xfrm>
          <a:prstGeom prst="rect">
            <a:avLst/>
          </a:prstGeom>
          <a:solidFill>
            <a:srgbClr val="0E1628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491032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AF3FF"/>
                </a:solidFill>
                <a:latin typeface="Calibri"/>
              </a:rPr>
              <a:t>React + Vite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4892040"/>
            <a:ext cx="1645920" cy="274320"/>
          </a:xfrm>
          <a:prstGeom prst="rect">
            <a:avLst/>
          </a:prstGeom>
          <a:solidFill>
            <a:srgbClr val="0E16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91032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CD34D"/>
                </a:solidFill>
                <a:latin typeface="Calibri"/>
              </a:rPr>
              <a:t>OpenCV HSV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4892040"/>
            <a:ext cx="1645920" cy="274320"/>
          </a:xfrm>
          <a:prstGeom prst="rect">
            <a:avLst/>
          </a:prstGeom>
          <a:solidFill>
            <a:srgbClr val="0E1628"/>
          </a:solidFill>
          <a:ln w="12700">
            <a:solidFill>
              <a:srgbClr val="A35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910327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7D2FE"/>
                </a:solidFill>
                <a:latin typeface="Calibri"/>
              </a:rPr>
              <a:t>MVA 1988 + IPC 283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A3C4"/>
                </a:solidFill>
                <a:latin typeface="Calibri"/>
              </a:rPr>
              <a:t>IIT Madras CoERS Road Safety Hackathon 2026  |  DriveLegal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7607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SANJAYA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3C4"/>
                </a:solidFill>
                <a:latin typeface="Calibri"/>
              </a:rP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743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A3C4"/>
                </a:solidFill>
                <a:latin typeface="Calibri"/>
              </a:rPr>
              <a:t>IIT Madras CoERS Road Safety Hackathon 2026 · DriveLegal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160"/>
            <a:ext cx="2651760" cy="137160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2801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17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1,68,491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A3C4"/>
                </a:solidFill>
                <a:latin typeface="Calibri"/>
              </a:rPr>
              <a:t>road crash deaths in India (2022)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80160"/>
            <a:ext cx="2651760" cy="137160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417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A3C4"/>
                </a:solidFill>
                <a:latin typeface="Calibri"/>
              </a:rPr>
              <a:t>of fatalities are 18-45 yr working 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280160"/>
            <a:ext cx="2651760" cy="137160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2801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417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Calibri"/>
              </a:rPr>
              <a:t>Top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A3C4"/>
                </a:solidFill>
                <a:latin typeface="Calibri"/>
              </a:rPr>
              <a:t>causes: red-light jump, wrong-side, no helmet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280160"/>
            <a:ext cx="2651760" cy="137160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417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&lt; 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011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A3C4"/>
                </a:solidFill>
                <a:latin typeface="Calibri"/>
              </a:rPr>
              <a:t>violations ever result in a challan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11521440" cy="54864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Gap  —  Why Existing Systems 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6557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34290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2FF"/>
                </a:solidFill>
                <a:latin typeface="Calibri"/>
              </a:rPr>
              <a:t>Reactive, not proactive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3639312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Police enforce after the fact.  No real-time citizen warning.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2277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38862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2FF"/>
                </a:solidFill>
                <a:latin typeface="Calibri"/>
              </a:rPr>
              <a:t>Legally opaque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096512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Challans cite a section number — citizens don't know what law they broke or what fine applies.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7997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43434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2FF"/>
                </a:solidFill>
                <a:latin typeface="Calibri"/>
              </a:rPr>
              <a:t>No city-scale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" y="4553712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Camera density is low.  Most violations go completely undetected.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3717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208" y="4800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EF2FF"/>
                </a:solidFill>
                <a:latin typeface="Calibri"/>
              </a:rPr>
              <a:t>No multi-violation awareness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" y="5010912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Existing tools detect one class.  Real intersections involve 4-5 simultaneous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SANJAYA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3C4"/>
                </a:solidFill>
                <a:latin typeface="Calibri"/>
              </a:rP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743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A3C4"/>
                </a:solidFill>
                <a:latin typeface="Calibri"/>
              </a:rPr>
              <a:t>IIT Madras CoERS Road Safety Hackathon 2026 · DriveLegal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 —  SANJAYA 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A3C4"/>
                </a:solidFill>
                <a:latin typeface="Calibri"/>
              </a:rPr>
              <a:t>A real-time AI legal co-pilot that detects violations, cites the exact law, and announces the state-specific fine — proactively, before harm occurs.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2240280" cy="29260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22402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1938528"/>
            <a:ext cx="5029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938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0D18"/>
                </a:solidFill>
                <a:latin typeface="Calibri"/>
              </a:rPr>
              <a:t>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9385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Red Light Jump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MVA Sec. 119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578608"/>
            <a:ext cx="2029968" cy="256032"/>
          </a:xfrm>
          <a:prstGeom prst="rect">
            <a:avLst/>
          </a:prstGeom>
          <a:solidFill>
            <a:srgbClr val="141E3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259689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Rs. 1,000 / Rs. 2,000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2608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YOLOv8 + HSV 4-frame temporal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4327" y="1828800"/>
            <a:ext cx="2240280" cy="29260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24327" y="1828800"/>
            <a:ext cx="2240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34056" y="1938528"/>
            <a:ext cx="502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4056" y="1938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0D18"/>
                </a:solidFill>
                <a:latin typeface="Calibri"/>
              </a:rPr>
              <a:t>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7" y="19385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Helmet Violation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4056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MVA Sec. 129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34056" y="2578608"/>
            <a:ext cx="2029968" cy="256032"/>
          </a:xfrm>
          <a:prstGeom prst="rect">
            <a:avLst/>
          </a:prstGeom>
          <a:solidFill>
            <a:srgbClr val="141E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5" y="259689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Rs. 1,000 + 3-mo. 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292608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Custom head/helmet classifier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74336" y="1828800"/>
            <a:ext cx="2240280" cy="29260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74336" y="1828800"/>
            <a:ext cx="22402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4064" y="1938528"/>
            <a:ext cx="5029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938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0D18"/>
                </a:solidFill>
                <a:latin typeface="Calibri"/>
              </a:rPr>
              <a:t>D3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0136" y="19385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Wrong-Side Driving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MVA Sec. 184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4064" y="2578608"/>
            <a:ext cx="2029968" cy="256032"/>
          </a:xfrm>
          <a:prstGeom prst="rect">
            <a:avLst/>
          </a:prstGeom>
          <a:solidFill>
            <a:srgbClr val="141E3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9783" y="259689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Rs. 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292608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Lucas-Kanade optical 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24344" y="1828800"/>
            <a:ext cx="2240280" cy="29260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24344" y="1828800"/>
            <a:ext cx="2240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34071" y="1938528"/>
            <a:ext cx="502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34071" y="1938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0D18"/>
                </a:solidFill>
                <a:latin typeface="Calibri"/>
              </a:rPr>
              <a:t>D4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0144" y="19385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Traffic Blocking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1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IPC Sec. 283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4071" y="2578608"/>
            <a:ext cx="2029968" cy="256032"/>
          </a:xfrm>
          <a:prstGeom prst="rect">
            <a:avLst/>
          </a:prstGeom>
          <a:solidFill>
            <a:srgbClr val="141E3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259689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Rs. 5,000 + Rs. 2,000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4071" y="292608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Vectorised IoU cluster &gt;= 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74352" y="1828800"/>
            <a:ext cx="2240280" cy="29260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74352" y="1828800"/>
            <a:ext cx="22402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84080" y="1938528"/>
            <a:ext cx="50292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1938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80D18"/>
                </a:solidFill>
                <a:latin typeface="Calibri"/>
              </a:rPr>
              <a:t>D5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0152" y="19385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F"/>
                </a:solidFill>
                <a:latin typeface="Calibri"/>
              </a:rPr>
              <a:t>Pedestrian in Lane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2304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3C5FD"/>
                </a:solidFill>
                <a:latin typeface="Calibri"/>
              </a:rPr>
              <a:t>MVA Sec. 283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84080" y="2578608"/>
            <a:ext cx="2029968" cy="256032"/>
          </a:xfrm>
          <a:prstGeom prst="rect">
            <a:avLst/>
          </a:prstGeom>
          <a:solidFill>
            <a:srgbClr val="141E3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9800" y="2596896"/>
            <a:ext cx="1938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Calibri"/>
              </a:rPr>
              <a:t>Rs. 500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2926080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Aspect-ratio + zone filter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892040"/>
            <a:ext cx="11612880" cy="12344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892040"/>
            <a:ext cx="116128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Every Alert Delivers:</a:t>
            </a:r>
          </a:p>
        </p:txBody>
      </p:sp>
      <p:sp>
        <p:nvSpPr>
          <p:cNvPr id="61" name="Oval 60"/>
          <p:cNvSpPr/>
          <p:nvPr/>
        </p:nvSpPr>
        <p:spPr>
          <a:xfrm>
            <a:off x="502920" y="5422392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37667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F"/>
                </a:solidFill>
                <a:latin typeface="Calibri"/>
              </a:rPr>
              <a:t>Violation name + exact MVA / IPC section</a:t>
            </a:r>
          </a:p>
        </p:txBody>
      </p:sp>
      <p:sp>
        <p:nvSpPr>
          <p:cNvPr id="63" name="Oval 62"/>
          <p:cNvSpPr/>
          <p:nvPr/>
        </p:nvSpPr>
        <p:spPr>
          <a:xfrm>
            <a:off x="502920" y="5678424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563270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F"/>
                </a:solidFill>
                <a:latin typeface="Calibri"/>
              </a:rPr>
              <a:t>National fine  +  TN / MH / KA state-specific amount</a:t>
            </a:r>
          </a:p>
        </p:txBody>
      </p:sp>
      <p:sp>
        <p:nvSpPr>
          <p:cNvPr id="65" name="Oval 64"/>
          <p:cNvSpPr/>
          <p:nvPr/>
        </p:nvSpPr>
        <p:spPr>
          <a:xfrm>
            <a:off x="502920" y="5934456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588873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F"/>
                </a:solidFill>
                <a:latin typeface="Calibri"/>
              </a:rPr>
              <a:t>Risk statement  (why it is dangerous)</a:t>
            </a:r>
          </a:p>
        </p:txBody>
      </p:sp>
      <p:sp>
        <p:nvSpPr>
          <p:cNvPr id="67" name="Oval 66"/>
          <p:cNvSpPr/>
          <p:nvPr/>
        </p:nvSpPr>
        <p:spPr>
          <a:xfrm>
            <a:off x="502920" y="6190488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614476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F"/>
                </a:solidFill>
                <a:latin typeface="Calibri"/>
              </a:rPr>
              <a:t>Voice announcement  (Web Speech API  |  en-IN)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SANJAYA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3C4"/>
                </a:solidFill>
                <a:latin typeface="Calibri"/>
              </a:rPr>
              <a:t>04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743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A3C4"/>
                </a:solidFill>
                <a:latin typeface="Calibri"/>
              </a:rPr>
              <a:t>IIT Madras CoERS Road Safety Hackathon 2026 · DriveLegal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4572000" cy="4297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4572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325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3C5FD"/>
                </a:solidFill>
                <a:latin typeface="Calibri"/>
              </a:rPr>
              <a:t>BACKEND  (Python · FastAPI)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3736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7393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YOLOv8n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842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COCO 80-class object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8600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OpenCV HSV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328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Traffic light colour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3464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712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Lucas-Kanade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8152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Optical flow wrong-side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38328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19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IoU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301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Traffic blocking gridlock detector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93192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96849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Thread Executor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788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Non-blocking async inference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480559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1713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rules.json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274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MVA 1988 + IPC 283 legal database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46320" y="2560320"/>
            <a:ext cx="7315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46320" y="3017520"/>
            <a:ext cx="7315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46320" y="3474720"/>
            <a:ext cx="73152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28032" y="2697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3C5FD"/>
                </a:solidFill>
                <a:latin typeface="Calibri"/>
              </a:rPr>
              <a:t>WebSocket
base64 JPEG
+ 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1234440"/>
            <a:ext cx="4297680" cy="4297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77840" y="1234440"/>
            <a:ext cx="4297680" cy="54864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1325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AF3FF"/>
                </a:solidFill>
                <a:latin typeface="Calibri"/>
              </a:rPr>
              <a:t>FRONTEND  (React · Vite · Tailwind)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15000" y="173736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177393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Live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19842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Annotated JPEG frames from WebSocket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28600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232257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Event 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25328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Color-coded cards: Critical / High / Safe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283464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287121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Stats Strip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308152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Events · Critical · Confidence · Fine total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0" y="338328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341985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Voice Co-Pilot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36301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Web Speech API · en-IN · reads every alert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0" y="3931920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96849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5 Scenarios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60" y="41788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Red light, helmet, wrong-side, blocking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0" y="4480559"/>
            <a:ext cx="4297680" cy="475488"/>
          </a:xfrm>
          <a:prstGeom prst="rect">
            <a:avLst/>
          </a:prstGeom>
          <a:solidFill>
            <a:srgbClr val="0A1222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4517136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F2FF"/>
                </a:solidFill>
                <a:latin typeface="Calibri"/>
              </a:rPr>
              <a:t>HUD Overlay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47274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Speed, GPS, detector status, REC indicator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58400" y="1234440"/>
            <a:ext cx="1920240" cy="4297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58400" y="1234440"/>
            <a:ext cx="1920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31552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Performance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31552" y="17373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imgsz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17373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320px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22311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Skip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3 frames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31552" y="27249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Resize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27249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416px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31552" y="321868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JPEG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32186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Q60 / 640px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31552" y="37124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Pool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37124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2 threads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31552" y="420624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Warmup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42062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startup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31552" y="47000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BA3C4"/>
                </a:solidFill>
                <a:latin typeface="Calibri"/>
              </a:rPr>
              <a:t>CUDA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72800" y="4700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93C5FD"/>
                </a:solidFill>
                <a:latin typeface="Calibri"/>
              </a:rPr>
              <a:t>auto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SANJAYA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3C4"/>
                </a:solidFill>
                <a:latin typeface="Calibri"/>
              </a:rP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743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A3C4"/>
                </a:solidFill>
                <a:latin typeface="Calibri"/>
              </a:rPr>
              <a:t>IIT Madras CoERS Road Safety Hackathon 2026 · DriveLegal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  —  Real Indian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01_Hello_everyone_-_this_is_SANJAYA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271016"/>
            <a:ext cx="3493008" cy="193852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4320" y="3246120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" y="3328416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264408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YOLOv8n live scanning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234440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1_03_DETECTOR_1_Red_Light_Jump_MVA_Section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1271016"/>
            <a:ext cx="3493008" cy="19385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60520" y="3246120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33672" y="332841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264408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Red Light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234440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2_03_Bare_head_detected_on_motorcyc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271016"/>
            <a:ext cx="3493008" cy="193852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46720" y="3246120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19872" y="332841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264408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Helmet Violation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67328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3_03_Vehicle_moving_140_degrees_against_do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3803904"/>
            <a:ext cx="3493008" cy="193852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74320" y="5779008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7472" y="5861304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797296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Wrong-Side Driving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767328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4_02_Dense_vehicle_cluster_detected_6_vehi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3803904"/>
            <a:ext cx="3493008" cy="193852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160520" y="5779008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233672" y="58613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5797296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Traffic Blocking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767328"/>
            <a:ext cx="3566160" cy="201168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04_03_ARCHITECTURE_FastAPI_React_WebSocket_st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3803904"/>
            <a:ext cx="3493008" cy="193852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046720" y="5779008"/>
            <a:ext cx="3566160" cy="256032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19872" y="5861304"/>
            <a:ext cx="82296" cy="822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5797296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2FF"/>
                </a:solidFill>
                <a:latin typeface="Calibri"/>
              </a:rPr>
              <a:t>Architecture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SANJAYA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822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A3C4"/>
                </a:solidFill>
                <a:latin typeface="Calibri"/>
              </a:rP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7432"/>
          </a:xfrm>
          <a:prstGeom prst="rect">
            <a:avLst/>
          </a:prstGeom>
          <a:solidFill>
            <a:srgbClr val="1E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A3C4"/>
                </a:solidFill>
                <a:latin typeface="Calibri"/>
              </a:rPr>
              <a:t>IIT Madras CoERS Road Safety Hackathon 2026 · DriveLegal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3C5FD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Innovation  &amp; 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7899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34440"/>
            <a:ext cx="5577840" cy="48920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234440"/>
            <a:ext cx="5577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Calibri"/>
              </a:rPr>
              <a:t>What Makes It Different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17739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7373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Temporal Consensus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476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4-frame HSV filter eliminates false red-light positives from sunlight glare.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22311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1945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Optical Flow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4048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Lucas-Kanade flow on vehicle centres flags wrong-side with no GPS needed.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26883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6517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Citizen-Facing Legal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8620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Every alert names the exact law section + fine per state (TN/MH/KA).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31455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1089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Thread-Pool 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3192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YOLO runs in executor — async event loop never blocks; WebSocket stays smooth.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6027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661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Voice Co-Pilot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764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Web Speech API (en-IN) announces each violation aloud within 200ms.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4059936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23360"/>
            <a:ext cx="5148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5 Detectors Simultaneously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Red light + helmet + wrong-side + blocking + pedestrian all run in one pass.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234440"/>
            <a:ext cx="5852160" cy="48920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1234440"/>
            <a:ext cx="5852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13258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  <a:latin typeface="Calibri"/>
              </a:rPr>
              <a:t>Potential 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7739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7373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Scalable to any camera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19476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Dashcam, CCTV, traffic pole cam — no hardware lock-in.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22311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21945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Zero police dependency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4048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Citizens receive legal education at point-of-violation, not after.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26883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26517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State-specific fines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28620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Covers TN, MH, KA.  Database extensible to all 28 states.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31455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1089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Proactive deterrence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3192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Real-time voice warning before the next violation, not after the first.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36027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Open source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7764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MIT-licensed.  Deployable by any smart-city or transport authority.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405993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023360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EF2FF"/>
                </a:solidFill>
                <a:latin typeface="Calibri"/>
              </a:rPr>
              <a:t>Roadmap: seatbelt, phone use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233672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A3C4"/>
                </a:solidFill>
                <a:latin typeface="Calibri"/>
              </a:rPr>
              <a:t>3 more detectors ready to add.  Legal DB already has entries.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76272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91456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090672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  <a:latin typeface="Calibri"/>
              </a:rPr>
              <a:t>SANJAYA EDGE  —  Making Every Road Safer, One Detection at a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983480"/>
            <a:ext cx="2651760" cy="7772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983480"/>
            <a:ext cx="2651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5074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A3C4"/>
                </a:solidFill>
                <a:latin typeface="Calibri"/>
              </a:rPr>
              <a:t>Code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303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2FF"/>
                </a:solidFill>
                <a:latin typeface="Calibri"/>
              </a:rPr>
              <a:t>github.com/Rajbharti06/SANJAYA-EDGE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4983480"/>
            <a:ext cx="2651760" cy="7772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4983480"/>
            <a:ext cx="2651760" cy="45720"/>
          </a:xfrm>
          <a:prstGeom prst="rect">
            <a:avLst/>
          </a:prstGeom>
          <a:solidFill>
            <a:srgbClr val="8B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074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A3C4"/>
                </a:solidFill>
                <a:latin typeface="Calibri"/>
              </a:rP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5303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2FF"/>
                </a:solidFill>
                <a:latin typeface="Calibri"/>
              </a:rPr>
              <a:t>YOLOv8n · FastAPI · React · OpenCV · Python 3.11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983480"/>
            <a:ext cx="2651760" cy="7772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98348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5074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A3C4"/>
                </a:solidFill>
                <a:latin typeface="Calibri"/>
              </a:rPr>
              <a:t>Legal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5303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2FF"/>
                </a:solidFill>
                <a:latin typeface="Calibri"/>
              </a:rPr>
              <a:t>MVA 1988 · IPC 283 · TN / MH / KA State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4983480"/>
            <a:ext cx="2651760" cy="777240"/>
          </a:xfrm>
          <a:prstGeom prst="rect">
            <a:avLst/>
          </a:prstGeom>
          <a:solidFill>
            <a:srgbClr val="0E1628"/>
          </a:solidFill>
          <a:ln w="12700">
            <a:solidFill>
              <a:srgbClr val="1E2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4983480"/>
            <a:ext cx="26517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7" y="50749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A3C4"/>
                </a:solidFill>
                <a:latin typeface="Calibri"/>
              </a:rPr>
              <a:t>Hackathon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530352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2FF"/>
                </a:solidFill>
                <a:latin typeface="Calibri"/>
              </a:rPr>
              <a:t>IIT Madras CoERS Road Safety Hackathon 2026 · DriveLegal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0807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A3C4"/>
                </a:solidFill>
                <a:latin typeface="Calibri"/>
              </a:rPr>
              <a:t>Submitted for IIT Madras CoERS Road Safety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